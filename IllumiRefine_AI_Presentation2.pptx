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8692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illumi-refine-ai.vercel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EDE4D8"/>
          </a:solidFill>
          <a:ln w="12700">
            <a:solidFill>
              <a:srgbClr val="EDE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570A"/>
          </a:solidFill>
          <a:ln w="12700">
            <a:solidFill>
              <a:srgbClr val="C057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IllumiRefine AI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5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Architecture: </a:t>
            </a:r>
            <a:r>
              <a:rPr lang="en-US" sz="15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Self-Calibrated Illumination + Adaptive Frequency Fusion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79222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Extreme Low-Light Image Enhancement.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" y="2400300"/>
            <a:ext cx="5029200" cy="27432"/>
          </a:xfrm>
          <a:prstGeom prst="rect">
            <a:avLst/>
          </a:prstGeom>
          <a:solidFill>
            <a:srgbClr val="6B7C3F"/>
          </a:solidFill>
          <a:ln w="12700">
            <a:solidFill>
              <a:srgbClr val="6B7C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1A0E"/>
                </a:solidFill>
                <a:latin typeface="Elephant" panose="02020904090505020303" pitchFamily="18" charset="0"/>
                <a:ea typeface="Calibri" pitchFamily="34" charset="-122"/>
                <a:cs typeface="Calibri" pitchFamily="34" charset="-120"/>
              </a:rPr>
              <a:t>Kunal </a:t>
            </a:r>
            <a:r>
              <a:rPr lang="en-US" sz="1400" b="1" dirty="0">
                <a:solidFill>
                  <a:srgbClr val="2A1A0E"/>
                </a:solidFill>
                <a:latin typeface="Aharoni" panose="02010803020104030203" pitchFamily="2" charset="-79"/>
                <a:ea typeface="Calibri" pitchFamily="34" charset="-122"/>
                <a:cs typeface="Aharoni" panose="02010803020104030203" pitchFamily="2" charset="-79"/>
              </a:rPr>
              <a:t>Pramanik</a:t>
            </a:r>
            <a:endParaRPr lang="en-US" sz="1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29443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202518001@dau.ac.in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1A0E"/>
                </a:solidFill>
                <a:latin typeface="Aharoni" panose="02010803020104030203" pitchFamily="2" charset="-79"/>
                <a:ea typeface="Calibri" pitchFamily="34" charset="-122"/>
                <a:cs typeface="Aharoni" panose="02010803020104030203" pitchFamily="2" charset="-79"/>
              </a:rPr>
              <a:t>Chauhan</a:t>
            </a:r>
            <a:r>
              <a:rPr lang="en-US" sz="1400" b="1" dirty="0">
                <a:solidFill>
                  <a:srgbClr val="2A1A0E"/>
                </a:solidFill>
                <a:latin typeface="Elephant" panose="02020904090505020303" pitchFamily="18" charset="0"/>
                <a:ea typeface="Calibri" pitchFamily="34" charset="-122"/>
                <a:cs typeface="Calibri" pitchFamily="34" charset="-120"/>
              </a:rPr>
              <a:t> Aman Satpal</a:t>
            </a:r>
            <a:endParaRPr lang="en-US" sz="1400" dirty="0">
              <a:latin typeface="Elephant" panose="020209040905050203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34472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202518004@dau.ac.in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8862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C3F"/>
                </a:solidFill>
                <a:latin typeface="Aharoni" panose="02010803020104030203" pitchFamily="2" charset="-79"/>
                <a:ea typeface="Calibri" pitchFamily="34" charset="-122"/>
                <a:cs typeface="Aharoni" panose="02010803020104030203" pitchFamily="2" charset="-79"/>
              </a:rPr>
              <a:t>Guide: Dr. Srimanta Mandal</a:t>
            </a:r>
            <a:endParaRPr lang="en-US" sz="12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Professor · Dhirubhai Ambani University · Gandhinagar, Gujarat</a:t>
            </a:r>
            <a:endParaRPr lang="en-US" sz="1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371600"/>
            <a:ext cx="1645920" cy="16459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62940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Image Processing</a:t>
            </a:r>
            <a:endParaRPr lang="en-US" sz="1100" dirty="0"/>
          </a:p>
        </p:txBody>
      </p:sp>
      <p:pic>
        <p:nvPicPr>
          <p:cNvPr id="2050" name="Picture 2" descr="Dhirubhai Ambani Institute of Information and Communication Technology, A Private University Established by The State Government of Gujarat Act">
            <a:extLst>
              <a:ext uri="{FF2B5EF4-FFF2-40B4-BE49-F238E27FC236}">
                <a16:creationId xmlns:a16="http://schemas.microsoft.com/office/drawing/2014/main" id="{A777D588-55F6-F766-5A28-8F20B43C6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752" y="228600"/>
            <a:ext cx="1408176" cy="901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36576"/>
          </a:xfrm>
          <a:prstGeom prst="rect">
            <a:avLst/>
          </a:prstGeom>
          <a:solidFill>
            <a:srgbClr val="C0570A"/>
          </a:solidFill>
          <a:ln w="12700">
            <a:solidFill>
              <a:srgbClr val="C057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05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Roadmap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9768" y="1444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5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214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low-light enhancement is a critical challenge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55848" y="1444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5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8328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21214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HE, CLAHE, Retinex, RetinexNet — and their limits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72200" y="137160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81928" y="1444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5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936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Homomorphic Filtering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21214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Frequency-domain classical approach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60604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9768" y="2679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5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3108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Self-Calibrated Illumination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3558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CVPR 2022 deep learning backbone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46120" y="260604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55848" y="2679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5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383280" y="3108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SCI-Guided Adaptive Fusion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33558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novel hybrid contribution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72200" y="260604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81928" y="2679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5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309360" y="3108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33558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cloud deployment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84048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29768" y="3913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5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57200" y="4343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5902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comparisons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46120" y="384048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355848" y="3913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5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383280" y="4343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83280" y="45902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Speed, efficiency &amp; scalability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72200" y="384048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281928" y="3913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5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309360" y="4343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09360" y="45902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 and next steps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36576"/>
          </a:xfrm>
          <a:prstGeom prst="rect">
            <a:avLst/>
          </a:prstGeom>
          <a:solidFill>
            <a:srgbClr val="C0570A"/>
          </a:solidFill>
          <a:ln w="12700">
            <a:solidFill>
              <a:srgbClr val="C057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05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Low-Light Enhancement Matters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1148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5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794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photon capture → high signal-to-noise ratio (SNR)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details, edges &amp; color channels buried under sensor noise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global methods (HE, Gamma) fail on spatially non-uniform lighting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Retinex division amplifies noise in pitch-black regions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Mid-tone dullness: flat contrast in partially-lit zones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325880"/>
            <a:ext cx="4160520" cy="1005840"/>
          </a:xfrm>
          <a:prstGeom prst="rect">
            <a:avLst/>
          </a:prstGeom>
          <a:solidFill>
            <a:srgbClr val="FDF3EB"/>
          </a:solidFill>
          <a:ln w="12700">
            <a:solidFill>
              <a:srgbClr val="D0DAE8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389888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03520" y="13898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Driving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303520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pedestrians &amp; signs on unlit roads at night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17720" y="2468880"/>
            <a:ext cx="4160520" cy="1005840"/>
          </a:xfrm>
          <a:prstGeom prst="rect">
            <a:avLst/>
          </a:prstGeom>
          <a:solidFill>
            <a:srgbClr val="FDF3EB"/>
          </a:solidFill>
          <a:ln w="12700">
            <a:solidFill>
              <a:srgbClr val="D0DAE8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532888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03520" y="25328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Surveillance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303520" y="2788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faces &amp; license plates in deep shadows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617720" y="3611880"/>
            <a:ext cx="4160520" cy="1005840"/>
          </a:xfrm>
          <a:prstGeom prst="rect">
            <a:avLst/>
          </a:prstGeom>
          <a:solidFill>
            <a:srgbClr val="FDF3EB"/>
          </a:solidFill>
          <a:ln w="12700">
            <a:solidFill>
              <a:srgbClr val="D0DAE8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3675888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03520" y="36758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303520" y="3931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Endoscopes operate under strict illumination limits — algorithmic enhancement required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36576"/>
          </a:xfrm>
          <a:prstGeom prst="rect">
            <a:avLst/>
          </a:prstGeom>
          <a:solidFill>
            <a:srgbClr val="C0570A"/>
          </a:solidFill>
          <a:ln w="12700">
            <a:solidFill>
              <a:srgbClr val="C057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05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Low-Light Enhancement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057400" cy="384048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8016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Methods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755648"/>
            <a:ext cx="2057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8B4513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8196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Equalization (HE)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Flattens pixel distribution globally. Over-amplifies noise in dark regions.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807208"/>
            <a:ext cx="2057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8B4513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8712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3154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tiles + clamped contrast gain. Better, but still fails under extreme non-uniform lighting.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3858768"/>
            <a:ext cx="2057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8B4513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9227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Correction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4206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Power-law transform (Vout = A·Vᵧin). Blows out bright regions when γ &lt; 1.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68880" y="1280160"/>
            <a:ext cx="2057400" cy="384048"/>
          </a:xfrm>
          <a:prstGeom prst="rect">
            <a:avLst/>
          </a:prstGeom>
          <a:solidFill>
            <a:srgbClr val="556B2F"/>
          </a:solidFill>
          <a:ln w="12700">
            <a:solidFill>
              <a:srgbClr val="556B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128016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Retinex / Frequency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68880" y="1755648"/>
            <a:ext cx="2057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556B2F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560320" y="18196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Retinex Theory (Land 1977)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0" y="2103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= Illumination × Reflectance. Physical model of human color vision.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468880" y="2807208"/>
            <a:ext cx="2057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556B2F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560320" y="28712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 / MSR / MSRCR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560320" y="3154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Gaussian-based illumination estimation at single or multiple scales.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468880" y="3858768"/>
            <a:ext cx="2057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556B2F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560320" y="39227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Homomorphic Filtering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560320" y="4206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Frequency-domain separation via FFT + HPF. Introduces edge halos.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1280160"/>
            <a:ext cx="2057400" cy="384048"/>
          </a:xfrm>
          <a:prstGeom prst="rect">
            <a:avLst/>
          </a:prstGeom>
          <a:solidFill>
            <a:srgbClr val="7B3F6E"/>
          </a:solidFill>
          <a:ln w="12700">
            <a:solidFill>
              <a:srgbClr val="7B3F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128016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DL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1755648"/>
            <a:ext cx="2057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7B3F6E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54880" y="18196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LLNet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54880" y="2103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sparse denoising autoencoders. Requires paired dark/normal images.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2807208"/>
            <a:ext cx="2057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7B3F6E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54880" y="28712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RetinexNet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54880" y="3154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Retinex decomposition CNN. 136+ GFLOPs. Paired data required.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58000" y="1280160"/>
            <a:ext cx="2057400" cy="384048"/>
          </a:xfrm>
          <a:prstGeom prst="rect">
            <a:avLst/>
          </a:prstGeom>
          <a:solidFill>
            <a:srgbClr val="A04040"/>
          </a:solidFill>
          <a:ln w="12700">
            <a:solidFill>
              <a:srgbClr val="A040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128016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DL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858000" y="1755648"/>
            <a:ext cx="2057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04040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949440" y="18196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Zero-DCE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949440" y="2103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Pixel-wise curve estimation. No paired reference images needed.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858000" y="2807208"/>
            <a:ext cx="2057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A04040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949440" y="28712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 (CVPR 2022)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949440" y="3154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Cascaded self-calibrating process. Only 0.0619 GFLOPs at inference. ✔ Our backbone.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36576"/>
          </a:xfrm>
          <a:prstGeom prst="rect">
            <a:avLst/>
          </a:prstGeom>
          <a:solidFill>
            <a:srgbClr val="C0570A"/>
          </a:solidFill>
          <a:ln w="12700">
            <a:solidFill>
              <a:srgbClr val="C057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Homomorphic Filtering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05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Frequency-Domain Classical Approach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2976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447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05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40233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Illumination varies slowly → Low frequencies in Fourier domain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Reflectance (edges, textures) → High frequencies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 converts multiplication to addition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High-Pass Filter: suppresses dark illumination, boosts detail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IFFT + exp() returns enhanced spatial-domain image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Gaussian cutoff introduces edge halos at high-contrast boundaries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325880"/>
            <a:ext cx="4023360" cy="3429000"/>
          </a:xfrm>
          <a:prstGeom prst="rect">
            <a:avLst/>
          </a:prstGeom>
          <a:solidFill>
            <a:srgbClr val="F5F3EE"/>
          </a:solidFill>
          <a:ln w="12700">
            <a:solidFill>
              <a:srgbClr val="6B7C3F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444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EQUATIONS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Formation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937760" y="2011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57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f(x,y)  =  i(x,y)  ·  r(x,y)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937760" y="2331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37760" y="2514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57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z(x,y)  =  ln[i(x,y)]  +  ln[r(x,y)]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37760" y="2834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37760" y="3017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57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Z(u,v)  =  Fᵢ(u,v)  +  Fᵣ(u,v)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33375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HPF Filter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37760" y="3520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57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H(u,v) = (γH − γL)[1 − e^(−c·D²/D₀²)] + γL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37760" y="38404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Filter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37760" y="4023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57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S(u,v) = Z(u,v) · H(u,v)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37760" y="4343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Image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37760" y="4526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57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g(x,y) = exp( IFFT { S(u,v) } )</a:t>
            </a:r>
            <a:endParaRPr lang="en-US" sz="115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4206240"/>
            <a:ext cx="5486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36576"/>
          </a:xfrm>
          <a:prstGeom prst="rect">
            <a:avLst/>
          </a:prstGeom>
          <a:solidFill>
            <a:srgbClr val="C0570A"/>
          </a:solidFill>
          <a:ln w="12700">
            <a:solidFill>
              <a:srgbClr val="C057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Self-Calibrated Illumination (SCI)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05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CVPR 2022 · Unsupervised Deep Learning Backbone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8503920" cy="685800"/>
          </a:xfrm>
          <a:prstGeom prst="rect">
            <a:avLst/>
          </a:prstGeom>
          <a:solidFill>
            <a:srgbClr val="FDF3EB"/>
          </a:solidFill>
          <a:ln w="12700">
            <a:solidFill>
              <a:srgbClr val="6B7C3F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89888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41732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switch from Homomorphic Filtering? </a:t>
            </a:r>
            <a:r>
              <a:rPr lang="en-US" sz="12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HPF uses fixed Gaussian cutoffs — it cannot adapt to the dynamic, non-linear spatial variation of real-world lighting. SCI replaces rigid math with learned convolutions trained without any paired ground-truth data.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" y="2148840"/>
            <a:ext cx="41605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22585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05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2606040"/>
            <a:ext cx="393192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Retinex model: y = z ⊙ x  (observation = reflectance × illumination)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Hθ learns residual illumination — far easier than direct mapping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Cascaded training: uᵗ = Hθ(vᵗ),  xᵗ⁺¹ = xᵗ + uᵗ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Self-calibration: vᵗ = y + Kθ(xᵗ) forces stages to converge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inference: only 1 lightweight block (3 × Conv3×3 + BN + ReLU)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output: z = y / (x + ε),   ε = 1e‒4 for numerical stability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663440" y="2148840"/>
            <a:ext cx="4160520" cy="2606040"/>
          </a:xfrm>
          <a:prstGeom prst="rect">
            <a:avLst/>
          </a:prstGeom>
          <a:solidFill>
            <a:srgbClr val="F5F2EC"/>
          </a:solidFill>
          <a:ln w="12700">
            <a:solidFill>
              <a:srgbClr val="6B7C3F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800600" y="22585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 &amp; EFFICIENCY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00600" y="26243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 Loss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800600" y="28529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57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Lf = Σ ||xᵗ − (y + sᵗ⁻¹)||²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00600" y="3108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Pixel-level consistency between estimated illumination and input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800600" y="3447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 Loss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00600" y="3675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57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— Spatially-variant L1 norm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800600" y="3931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the network from confusing sharp object edges with lighting changes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63440" y="4343400"/>
            <a:ext cx="4160520" cy="384048"/>
          </a:xfrm>
          <a:prstGeom prst="rect">
            <a:avLst/>
          </a:prstGeom>
          <a:solidFill>
            <a:srgbClr val="EEF3E2"/>
          </a:solidFill>
          <a:ln w="12700">
            <a:solidFill>
              <a:srgbClr val="6B7C3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09160" y="43891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0.0619 GFLOPs  ·  &lt; 1 MB model  ·  vs RetinexNet 136+ GFLOPs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OUR PRIMARY NOVEL CONTRIBUTION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65760" y="228600"/>
            <a:ext cx="8412480" cy="36576"/>
          </a:xfrm>
          <a:prstGeom prst="rect">
            <a:avLst/>
          </a:prstGeom>
          <a:solidFill>
            <a:srgbClr val="C0570A"/>
          </a:solidFill>
          <a:ln w="12700">
            <a:solidFill>
              <a:srgbClr val="C057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SCI-Guided Adaptive Fusion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05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Post-Processing Engine — Resolving Pure Retinex Failures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2743200" cy="822960"/>
          </a:xfrm>
          <a:prstGeom prst="rect">
            <a:avLst/>
          </a:prstGeom>
          <a:solidFill>
            <a:srgbClr val="FBF0F0"/>
          </a:solidFill>
          <a:ln w="12700">
            <a:solidFill>
              <a:srgbClr val="9B2335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4173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B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1: Mid-Tone Dullness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Retinex division leaves partial-light zones flat &amp; desaturated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2743200" cy="822960"/>
          </a:xfrm>
          <a:prstGeom prst="rect">
            <a:avLst/>
          </a:prstGeom>
          <a:solidFill>
            <a:srgbClr val="FBF0F0"/>
          </a:solidFill>
          <a:ln w="12700">
            <a:solidFill>
              <a:srgbClr val="9B2335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14173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B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2: Noise Amplification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83280" y="166420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/ x ≈ 0 in pitch-black regions explodes sensor grain into visible artifacts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325880"/>
            <a:ext cx="2651760" cy="822960"/>
          </a:xfrm>
          <a:prstGeom prst="rect">
            <a:avLst/>
          </a:prstGeom>
          <a:solidFill>
            <a:srgbClr val="EEF3E4"/>
          </a:solidFill>
          <a:ln w="12700">
            <a:solidFill>
              <a:srgbClr val="6B7C3F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14173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09360" y="16642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Fusion: bridge AI output with classical OpenCV — no added parameters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286000"/>
            <a:ext cx="4206240" cy="1325880"/>
          </a:xfrm>
          <a:prstGeom prst="rect">
            <a:avLst/>
          </a:prstGeom>
          <a:solidFill>
            <a:srgbClr val="FDF6EF"/>
          </a:solidFill>
          <a:ln w="12700">
            <a:solidFill>
              <a:srgbClr val="C0570A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3957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5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Adaptive Exposure + Fractional Gamma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67919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57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z_raw = (y / (x + ε)) · Eg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C057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z_γ   = (z_raw)^γ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200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gain Eg &gt; 1 lifts brightness; fractional γ &lt; 1 compresses dynamic range to boost shadows without blowing out highlights.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286000"/>
            <a:ext cx="4114800" cy="1325880"/>
          </a:xfrm>
          <a:prstGeom prst="rect">
            <a:avLst/>
          </a:prstGeom>
          <a:solidFill>
            <a:srgbClr val="FDF6EF"/>
          </a:solidFill>
          <a:ln w="12700">
            <a:solidFill>
              <a:srgbClr val="6B7C3F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23957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Illumination-Guided Denoising Mask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6791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C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z_final = z_denoised·(1−x_norm) + z_γ·x_norm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0175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NLM denoised image weighted by (1 − illumination): dark zones → smooth; bright zones → sharp original texture preserved.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749040"/>
            <a:ext cx="8503920" cy="987552"/>
          </a:xfrm>
          <a:prstGeom prst="rect">
            <a:avLst/>
          </a:prstGeom>
          <a:solidFill>
            <a:srgbClr val="FBF0F0"/>
          </a:solidFill>
          <a:ln w="12700">
            <a:solidFill>
              <a:srgbClr val="9B2335"/>
            </a:solidFill>
            <a:prstDash val="solid"/>
          </a:ln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0"/>
            <a:ext cx="502920" cy="5029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097280" y="379476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B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r>
              <a:rPr lang="en-US" sz="125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regions rendered </a:t>
            </a:r>
            <a:r>
              <a:rPr lang="en-US" sz="1250" b="1" dirty="0">
                <a:solidFill>
                  <a:srgbClr val="6B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grain-free and smooth</a:t>
            </a:r>
            <a:r>
              <a:rPr lang="en-US" sz="125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while highlight zones maintain </a:t>
            </a:r>
            <a:r>
              <a:rPr lang="en-US" sz="1250" b="1" dirty="0">
                <a:solidFill>
                  <a:srgbClr val="C05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crisp, high-frequency edge fidelity.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additional network parameters. No increase in inference time.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36576"/>
          </a:xfrm>
          <a:prstGeom prst="rect">
            <a:avLst/>
          </a:prstGeom>
          <a:solidFill>
            <a:srgbClr val="C0570A"/>
          </a:solidFill>
          <a:ln w="12700">
            <a:solidFill>
              <a:srgbClr val="C057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05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Cloud Deployment · illumi-refine-ai.vercel.app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834640" cy="35661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25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365760" y="17373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Tailwind CSS + Axios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2029968"/>
            <a:ext cx="2651760" cy="27432"/>
          </a:xfrm>
          <a:prstGeom prst="rect">
            <a:avLst/>
          </a:prstGeom>
          <a:solidFill>
            <a:srgbClr val="C0570A"/>
          </a:solidFill>
          <a:ln w="12700">
            <a:solidFill>
              <a:srgbClr val="C0570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2148840"/>
            <a:ext cx="26517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via Browser File API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object URL preview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API requests + loading states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Vercel Edge Network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108960" y="2834640"/>
            <a:ext cx="137160" cy="320040"/>
          </a:xfrm>
          <a:prstGeom prst="rect">
            <a:avLst/>
          </a:prstGeom>
          <a:solidFill>
            <a:srgbClr val="C0570A"/>
          </a:solidFill>
          <a:ln w="12700">
            <a:solidFill>
              <a:srgbClr val="C0570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325880"/>
            <a:ext cx="2834640" cy="3566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C0570A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4173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31920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3337560" y="1794837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 3.11) + PyTorch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337560" y="2029968"/>
            <a:ext cx="2651760" cy="27432"/>
          </a:xfrm>
          <a:prstGeom prst="rect">
            <a:avLst/>
          </a:prstGeom>
          <a:solidFill>
            <a:srgbClr val="C0570A"/>
          </a:solidFill>
          <a:ln w="12700">
            <a:solidFill>
              <a:srgbClr val="C0570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337560" y="2148840"/>
            <a:ext cx="26517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/enhance — multipart form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np.frombuffer → cv2.imdecode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Tensor: (H,W,C) → (N,C,H,W)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torch.no_grad() → 40% faster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Fusion post-processing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80760" y="2834640"/>
            <a:ext cx="137160" cy="320040"/>
          </a:xfrm>
          <a:prstGeom prst="rect">
            <a:avLst/>
          </a:prstGeom>
          <a:solidFill>
            <a:srgbClr val="C0570A"/>
          </a:solidFill>
          <a:ln w="12700">
            <a:solidFill>
              <a:srgbClr val="C0570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17920" y="1325880"/>
            <a:ext cx="2834640" cy="35661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C0570A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2220" y="1337637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03720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2" name="Text 17"/>
          <p:cNvSpPr/>
          <p:nvPr/>
        </p:nvSpPr>
        <p:spPr>
          <a:xfrm>
            <a:off x="6309360" y="17373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Spaces Docker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309360" y="2029968"/>
            <a:ext cx="2651760" cy="27432"/>
          </a:xfrm>
          <a:prstGeom prst="rect">
            <a:avLst/>
          </a:prstGeom>
          <a:solidFill>
            <a:srgbClr val="C0570A"/>
          </a:solidFill>
          <a:ln w="12700">
            <a:solidFill>
              <a:srgbClr val="C0570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309360" y="2148840"/>
            <a:ext cx="26517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CPU-optimized PyTorch wheel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CORSMiddleware (CORS)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2.0 sec end-to-end latency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 accessible at vercel.app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solidFill>
            <a:srgbClr val="F5F1EB"/>
          </a:solidFill>
          <a:ln w="12700">
            <a:solidFill>
              <a:srgbClr val="6B7C3F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365760" y="4873752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57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 Decode </a:t>
            </a:r>
            <a:r>
              <a:rPr lang="en-US" sz="950" dirty="0">
                <a:solidFill>
                  <a:srgbClr val="7A6A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r>
              <a:rPr lang="en-US" sz="950" b="1" dirty="0">
                <a:solidFill>
                  <a:srgbClr val="C057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BGR→RGB </a:t>
            </a:r>
            <a:r>
              <a:rPr lang="en-US" sz="950" dirty="0">
                <a:solidFill>
                  <a:srgbClr val="7A6A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r>
              <a:rPr lang="en-US" sz="950" b="1" dirty="0">
                <a:solidFill>
                  <a:srgbClr val="C057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 [0,1] </a:t>
            </a:r>
            <a:r>
              <a:rPr lang="en-US" sz="950" dirty="0">
                <a:solidFill>
                  <a:srgbClr val="7A6A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r>
              <a:rPr lang="en-US" sz="950" b="1" dirty="0">
                <a:solidFill>
                  <a:srgbClr val="C057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Tensor (N,C,H,W) </a:t>
            </a:r>
            <a:r>
              <a:rPr lang="en-US" sz="950" dirty="0">
                <a:solidFill>
                  <a:srgbClr val="7A6A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r>
              <a:rPr lang="en-US" sz="950" b="1" dirty="0">
                <a:solidFill>
                  <a:srgbClr val="6B7C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 Inference </a:t>
            </a:r>
            <a:r>
              <a:rPr lang="en-US" sz="950" dirty="0">
                <a:solidFill>
                  <a:srgbClr val="7A6A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r>
              <a:rPr lang="en-US" sz="950" b="1" dirty="0">
                <a:solidFill>
                  <a:srgbClr val="6B7C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 Fusion </a:t>
            </a:r>
            <a:r>
              <a:rPr lang="en-US" sz="950" dirty="0">
                <a:solidFill>
                  <a:srgbClr val="7A6A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r>
              <a:rPr lang="en-US" sz="950" b="1" dirty="0">
                <a:solidFill>
                  <a:srgbClr val="C057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PNG Stream 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36576"/>
          </a:xfrm>
          <a:prstGeom prst="rect">
            <a:avLst/>
          </a:prstGeom>
          <a:solidFill>
            <a:srgbClr val="C0570A"/>
          </a:solidFill>
          <a:ln w="12700">
            <a:solidFill>
              <a:srgbClr val="C057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 — Shadow Recovery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05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Scene: Extreme Low-Light · Shelving Unit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3977640" cy="3200400"/>
          </a:xfrm>
          <a:prstGeom prst="rect">
            <a:avLst/>
          </a:prstGeom>
          <a:solidFill>
            <a:srgbClr val="F5F0E8"/>
          </a:solidFill>
          <a:ln w="12700">
            <a:solidFill>
              <a:srgbClr val="C8B89A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320040" y="128016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328226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Extreme Low-Light Input 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4340" y="36576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INVISIBLE: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White shelving unit structure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Folded clothing textures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Plush toy (Totoro)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2788920"/>
            <a:ext cx="411480" cy="109728"/>
          </a:xfrm>
          <a:prstGeom prst="rect">
            <a:avLst/>
          </a:prstGeom>
          <a:solidFill>
            <a:srgbClr val="C0570A"/>
          </a:solidFill>
          <a:ln w="12700">
            <a:solidFill>
              <a:srgbClr val="C0570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280160"/>
            <a:ext cx="4023360" cy="3200400"/>
          </a:xfrm>
          <a:prstGeom prst="rect">
            <a:avLst/>
          </a:prstGeom>
          <a:solidFill>
            <a:srgbClr val="F0F3E8"/>
          </a:solidFill>
          <a:ln w="25400">
            <a:solidFill>
              <a:srgbClr val="6B7C3F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4800600" y="12801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FUSION OUTPUT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3158599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05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Enhanced Output 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85509" y="3602736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RECOVERED: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Distinct fabric textures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Sharp shelf geometry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Accurate Totoro color fidelity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4572000"/>
            <a:ext cx="8503920" cy="457200"/>
          </a:xfrm>
          <a:prstGeom prst="rect">
            <a:avLst/>
          </a:prstGeom>
          <a:solidFill>
            <a:srgbClr val="FDF6EF"/>
          </a:solidFill>
          <a:ln w="12700">
            <a:solidFill>
              <a:srgbClr val="C0570A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46451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Zero artificial halos  </a:t>
            </a:r>
            <a:r>
              <a:rPr lang="en-US" sz="11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50" b="1" dirty="0">
                <a:solidFill>
                  <a:srgbClr val="6B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Sensor grain fully suppressed by NLM(Non Local Masking)   </a:t>
            </a:r>
            <a:r>
              <a:rPr lang="en-US" sz="11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50" b="1" dirty="0">
                <a:solidFill>
                  <a:srgbClr val="6B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No overexposure artifacts  </a:t>
            </a:r>
            <a:r>
              <a:rPr lang="en-US" sz="11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50" b="1" dirty="0">
                <a:solidFill>
                  <a:srgbClr val="6B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Natural color constancy preserved</a:t>
            </a:r>
            <a:endParaRPr lang="en-US" sz="11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C9EB5AB-ECF7-F5C5-217D-B864C8FC8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578" y="1554480"/>
            <a:ext cx="2534194" cy="168946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66645CF-051C-4224-F001-8F0EB1C15D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6888" y="1555727"/>
            <a:ext cx="2510902" cy="167393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36576"/>
          </a:xfrm>
          <a:prstGeom prst="rect">
            <a:avLst/>
          </a:prstGeom>
          <a:solidFill>
            <a:srgbClr val="C0570A"/>
          </a:solidFill>
          <a:ln w="12700">
            <a:solidFill>
              <a:srgbClr val="C057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 — HDR Exposure Control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05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Scene: High Dynamic Range · Swimming Pool with Digital Clock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3977640" cy="3200400"/>
          </a:xfrm>
          <a:prstGeom prst="rect">
            <a:avLst/>
          </a:prstGeom>
          <a:solidFill>
            <a:srgbClr val="F5F0E8"/>
          </a:solidFill>
          <a:ln w="12700">
            <a:solidFill>
              <a:srgbClr val="C8B89A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8016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351129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High Dynamic Range Low-Light 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712464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clock (09:33) glowing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tiles &amp; diving blocks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6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entirely pitch-black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2788920"/>
            <a:ext cx="411480" cy="109728"/>
          </a:xfrm>
          <a:prstGeom prst="rect">
            <a:avLst/>
          </a:prstGeom>
          <a:solidFill>
            <a:srgbClr val="C0570A"/>
          </a:solidFill>
          <a:ln w="12700">
            <a:solidFill>
              <a:srgbClr val="C0570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234440"/>
            <a:ext cx="4023360" cy="3200400"/>
          </a:xfrm>
          <a:prstGeom prst="rect">
            <a:avLst/>
          </a:prstGeom>
          <a:solidFill>
            <a:srgbClr val="F0F3E8"/>
          </a:solidFill>
          <a:ln w="25400">
            <a:solidFill>
              <a:srgbClr val="6B7C3F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12801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FUSION OUTPUT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3450555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05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Localized Exposure Control 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36804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tiles &amp; lane markers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revealed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clock LEDs clamped — not blown out to 255,255,255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4572000"/>
            <a:ext cx="8503920" cy="457200"/>
          </a:xfrm>
          <a:prstGeom prst="rect">
            <a:avLst/>
          </a:prstGeom>
          <a:solidFill>
            <a:srgbClr val="FBF0F0"/>
          </a:solidFill>
          <a:ln w="12700">
            <a:solidFill>
              <a:srgbClr val="9B2335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46451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r>
              <a:rPr lang="en-US" sz="115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global Gamma Correction would overflow the clock to pure white. Our spatial illumination tensor </a:t>
            </a:r>
            <a:r>
              <a:rPr lang="en-US" sz="1150" b="1" dirty="0">
                <a:solidFill>
                  <a:srgbClr val="C05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the clock as already-bright and selectively enhances only the dark foreground.</a:t>
            </a:r>
            <a:endParaRPr lang="en-US" sz="11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8815CA1-A17C-A009-E4E9-4CA68D715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527" y="1569393"/>
            <a:ext cx="2902241" cy="193482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9427D61-2A22-02B4-6B7D-4839A071C5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7944" y="1563299"/>
            <a:ext cx="2911384" cy="19409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36576"/>
          </a:xfrm>
          <a:prstGeom prst="rect">
            <a:avLst/>
          </a:prstGeom>
          <a:solidFill>
            <a:srgbClr val="C0570A"/>
          </a:solidFill>
          <a:ln w="12700">
            <a:solidFill>
              <a:srgbClr val="C057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05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Efficiency &amp; Speed Benchmarks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011680" cy="1463040"/>
          </a:xfrm>
          <a:prstGeom prst="rect">
            <a:avLst/>
          </a:prstGeom>
          <a:solidFill>
            <a:srgbClr val="FFFDF9"/>
          </a:solidFill>
          <a:ln w="25400">
            <a:solidFill>
              <a:srgbClr val="6B7C3F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417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B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0.0619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2057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GFLOPs</a:t>
            </a:r>
          </a:p>
          <a:p>
            <a:pPr algn="ctr"/>
            <a:r>
              <a:rPr lang="en-US" sz="900" b="1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IN" sz="900" dirty="0"/>
              <a:t>Giga Floating Point Operations</a:t>
            </a:r>
            <a:r>
              <a:rPr lang="en-US" sz="900" b="1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2304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compute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96312" y="1325880"/>
            <a:ext cx="2011680" cy="1463040"/>
          </a:xfrm>
          <a:prstGeom prst="rect">
            <a:avLst/>
          </a:prstGeom>
          <a:solidFill>
            <a:srgbClr val="FFFDF9"/>
          </a:solidFill>
          <a:ln w="25400">
            <a:solidFill>
              <a:srgbClr val="C0570A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96312" y="1417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05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496312" y="2057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96312" y="2304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model size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72584" y="1325880"/>
            <a:ext cx="2011680" cy="1463040"/>
          </a:xfrm>
          <a:prstGeom prst="rect">
            <a:avLst/>
          </a:prstGeom>
          <a:solidFill>
            <a:srgbClr val="FFFDF9"/>
          </a:solidFill>
          <a:ln w="25400">
            <a:solidFill>
              <a:srgbClr val="6B7C3F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72584" y="1417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B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2.0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672584" y="2057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72584" y="2304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on CPU cloud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48856" y="1325880"/>
            <a:ext cx="2011680" cy="1463040"/>
          </a:xfrm>
          <a:prstGeom prst="rect">
            <a:avLst/>
          </a:prstGeom>
          <a:solidFill>
            <a:srgbClr val="FFFDF9"/>
          </a:solidFill>
          <a:ln w="25400">
            <a:solidFill>
              <a:srgbClr val="C0570A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48856" y="1417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05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848856" y="2057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48856" y="2304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CUDA GPU (local)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926080"/>
            <a:ext cx="8503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3017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05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291840"/>
          <a:ext cx="8321040" cy="13258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45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GFLOPs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45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45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Paired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45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45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RetinexNet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B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B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B23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Zero-DCE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~0.084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Required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057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IllumiRefine AI (Ours)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7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7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0.0003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7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Required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7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 sec (CPU)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8412480" cy="36576"/>
          </a:xfrm>
          <a:prstGeom prst="rect">
            <a:avLst/>
          </a:prstGeom>
          <a:solidFill>
            <a:srgbClr val="C0570A"/>
          </a:solidFill>
          <a:ln w="12700">
            <a:solidFill>
              <a:srgbClr val="C057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05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and Research Roadmap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1605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8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44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05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393192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Rigorously explored the full enhancement spectrum: from classical Homomorphic Filtering → unsupervised SCI deep learning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and resolved two critical SCI failure modes: mid-tone dullness &amp; noise amplification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SCI-Guided Adaptive Fusion — a novel, zero-parameter hybrid layer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that complex tensor math + neural inference can be operationalized in an accessible cloud app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A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achieves &lt; 2 sec per image on CPU infrastructure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4160520" cy="3429000"/>
          </a:xfrm>
          <a:prstGeom prst="rect">
            <a:avLst/>
          </a:prstGeom>
          <a:solidFill>
            <a:srgbClr val="F0F3E8"/>
          </a:solidFill>
          <a:ln w="12700">
            <a:solidFill>
              <a:srgbClr val="6B7C3F"/>
            </a:solidFill>
            <a:prstDash val="solid"/>
          </a:ln>
          <a:effectLst>
            <a:outerShdw blurRad="127000" dist="38100" dir="8100000" algn="bl" rotWithShape="0">
              <a:srgbClr val="8B7355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444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7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847088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257800" y="18288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3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Video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257800" y="20848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consistency loss + LSTM/GRU for flicker-free video enhancement</a:t>
            </a:r>
            <a:endParaRPr lang="en-US" sz="10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60604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57800" y="25877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3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257800" y="284378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quantization → ONNX/TFLite for smartphones &amp; IoT cameras</a:t>
            </a:r>
            <a:endParaRPr lang="en-US" sz="10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364992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57800" y="33467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3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Pipeline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257800" y="360273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integration with YOLOv8 / Mask R-CNN for dark-scene perception</a:t>
            </a:r>
            <a:endParaRPr lang="en-US" sz="10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4123944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257800" y="41056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3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Fine-Tuning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257800" y="436168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Underwater robotics, astronomy &amp; medical endoscopy datasets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1A0E"/>
          </a:solidFill>
          <a:ln w="12700">
            <a:solidFill>
              <a:srgbClr val="2A1A0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570A"/>
          </a:solidFill>
          <a:ln w="12700">
            <a:solidFill>
              <a:srgbClr val="C057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6B7C3F"/>
          </a:solidFill>
          <a:ln w="12700">
            <a:solidFill>
              <a:srgbClr val="6B7C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C0570A"/>
          </a:solidFill>
          <a:ln w="12700">
            <a:solidFill>
              <a:srgbClr val="C057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50292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C057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286000" y="2880360"/>
            <a:ext cx="4572000" cy="27432"/>
          </a:xfrm>
          <a:prstGeom prst="rect">
            <a:avLst/>
          </a:prstGeom>
          <a:solidFill>
            <a:srgbClr val="6B7C3F"/>
          </a:solidFill>
          <a:ln w="12700">
            <a:solidFill>
              <a:srgbClr val="6B7C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IllumiRefine AI — Live demo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33101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https://illumi-refine-ai.vercel.app/</a:t>
            </a:r>
            <a:endParaRPr lang="en-US" sz="1600" dirty="0">
              <a:solidFill>
                <a:srgbClr val="0070C0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-FI" sz="1300" dirty="0">
                <a:solidFill>
                  <a:srgbClr val="FFFFFF"/>
                </a:solidFill>
                <a:latin typeface="Aharoni" panose="02010803020104030203" pitchFamily="2" charset="-79"/>
                <a:ea typeface="Calibri" pitchFamily="34" charset="-122"/>
                <a:cs typeface="Aharoni" panose="02010803020104030203" pitchFamily="2" charset="-79"/>
              </a:rPr>
              <a:t>Kunal Pramanik · Chauhan Aman Satpal</a:t>
            </a:r>
            <a:endParaRPr lang="en-US" sz="13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57200" y="4206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2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ea typeface="Calibri" pitchFamily="34" charset="-122"/>
                <a:cs typeface="Aharoni" panose="02010803020104030203" pitchFamily="2" charset="-79"/>
              </a:rPr>
              <a:t>Guide: Dr. Srimanta Mandal · Dhirubhai Ambani University</a:t>
            </a:r>
            <a:endParaRPr lang="en-US" sz="1200" dirty="0">
              <a:solidFill>
                <a:schemeClr val="accent4">
                  <a:lumMod val="7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  <wetp:taskpane dockstate="right" visibility="0" width="525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58CC531F-78E8-46D7-A3F0-CB84BDC7A26E}">
  <we:reference id="wa200009680" version="1.1.1.0" store="en-US" storeType="OMEX"/>
  <we:alternateReferences>
    <we:reference id="WA200009680" version="1.1.1.0" store="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009A1F6-FB05-4952-B60D-9B3B500C3334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811633f6-80c2-4f38-b6dc-5be4a3b2ea2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1623</Words>
  <Application>Microsoft Office PowerPoint</Application>
  <PresentationFormat>On-screen Show (16:9)</PresentationFormat>
  <Paragraphs>264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Aharoni</vt:lpstr>
      <vt:lpstr>Arial</vt:lpstr>
      <vt:lpstr>Calibri</vt:lpstr>
      <vt:lpstr>Consolas</vt:lpstr>
      <vt:lpstr>Elephant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IllumiRefine AI</dc:title>
  <dc:subject>PptxGenJS Presentation</dc:subject>
  <dc:creator>Kunal Pramanik</dc:creator>
  <cp:lastModifiedBy>Kunal Pramanik</cp:lastModifiedBy>
  <cp:revision>14</cp:revision>
  <dcterms:created xsi:type="dcterms:W3CDTF">2026-05-09T23:49:18Z</dcterms:created>
  <dcterms:modified xsi:type="dcterms:W3CDTF">2026-05-13T05:30:30Z</dcterms:modified>
</cp:coreProperties>
</file>